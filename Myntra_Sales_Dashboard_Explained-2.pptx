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43000"/>
            <a:ext cx="10789920" cy="1005840"/>
          </a:xfrm>
          <a:prstGeom prst="rect">
            <a:avLst/>
          </a:prstGeom>
          <a:noFill/>
        </p:spPr>
        <p:txBody>
          <a:bodyPr wrap="square">
            <a:spAutoFit/>
          </a:bodyPr>
          <a:lstStyle/>
          <a:p>
            <a:pPr>
              <a:defRPr sz="3200" b="1">
                <a:solidFill>
                  <a:srgbClr val="FFFFFF"/>
                </a:solidFill>
              </a:defRPr>
            </a:pPr>
            <a:r>
              <a:t>MYNTRA SALES DASHBOARD</a:t>
            </a:r>
          </a:p>
        </p:txBody>
      </p:sp>
      <p:sp>
        <p:nvSpPr>
          <p:cNvPr id="4" name="TextBox 3"/>
          <p:cNvSpPr txBox="1"/>
          <p:nvPr/>
        </p:nvSpPr>
        <p:spPr>
          <a:xfrm>
            <a:off x="777240" y="2240280"/>
            <a:ext cx="9875520" cy="640080"/>
          </a:xfrm>
          <a:prstGeom prst="rect">
            <a:avLst/>
          </a:prstGeom>
          <a:noFill/>
        </p:spPr>
        <p:txBody>
          <a:bodyPr wrap="square">
            <a:spAutoFit/>
          </a:bodyPr>
          <a:lstStyle/>
          <a:p>
            <a:pPr>
              <a:defRPr sz="2000" b="0">
                <a:solidFill>
                  <a:srgbClr val="BCDCF2"/>
                </a:solidFill>
              </a:defRPr>
            </a:pPr>
            <a:r>
              <a:t>A simple, visual explanation of the dataset and its charts</a:t>
            </a:r>
          </a:p>
        </p:txBody>
      </p:sp>
      <p:sp>
        <p:nvSpPr>
          <p:cNvPr id="5" name="TextBox 4"/>
          <p:cNvSpPr txBox="1"/>
          <p:nvPr/>
        </p:nvSpPr>
        <p:spPr>
          <a:xfrm>
            <a:off x="777240" y="3794760"/>
            <a:ext cx="9875520" cy="1005840"/>
          </a:xfrm>
          <a:prstGeom prst="rect">
            <a:avLst/>
          </a:prstGeom>
          <a:noFill/>
        </p:spPr>
        <p:txBody>
          <a:bodyPr wrap="square">
            <a:spAutoFit/>
          </a:bodyPr>
          <a:lstStyle/>
          <a:p>
            <a:pPr>
              <a:defRPr sz="1800" b="1">
                <a:solidFill>
                  <a:srgbClr val="FFFFFF"/>
                </a:solidFill>
              </a:defRPr>
            </a:pPr>
            <a:r>
              <a:t>30 orders  |  43 units sold  |  ₹62,057 sales value</a:t>
            </a:r>
          </a:p>
        </p:txBody>
      </p:sp>
      <p:sp>
        <p:nvSpPr>
          <p:cNvPr id="6" name="TextBox 5"/>
          <p:cNvSpPr txBox="1"/>
          <p:nvPr/>
        </p:nvSpPr>
        <p:spPr>
          <a:xfrm>
            <a:off x="777240" y="5074920"/>
            <a:ext cx="9875520" cy="594360"/>
          </a:xfrm>
          <a:prstGeom prst="rect">
            <a:avLst/>
          </a:prstGeom>
          <a:noFill/>
        </p:spPr>
        <p:txBody>
          <a:bodyPr wrap="square">
            <a:spAutoFit/>
          </a:bodyPr>
          <a:lstStyle/>
          <a:p>
            <a:pPr>
              <a:defRPr sz="1300" b="0">
                <a:solidFill>
                  <a:srgbClr val="DCE6F0"/>
                </a:solidFill>
              </a:defRPr>
            </a:pPr>
            <a:r>
              <a:t>Prepared from the uploaded myntra_sales_dataset.csv</a:t>
            </a:r>
          </a:p>
        </p:txBody>
      </p:sp>
      <p:sp>
        <p:nvSpPr>
          <p:cNvPr id="7" name="TextBox 6"/>
          <p:cNvSpPr txBox="1"/>
          <p:nvPr/>
        </p:nvSpPr>
        <p:spPr>
          <a:xfrm>
            <a:off x="777240" y="6172200"/>
            <a:ext cx="9875520" cy="320040"/>
          </a:xfrm>
          <a:prstGeom prst="rect">
            <a:avLst/>
          </a:prstGeom>
          <a:noFill/>
        </p:spPr>
        <p:txBody>
          <a:bodyPr wrap="square">
            <a:spAutoFit/>
          </a:bodyPr>
          <a:lstStyle/>
          <a:p>
            <a:pPr>
              <a:defRPr sz="1000" b="0">
                <a:solidFill>
                  <a:srgbClr val="BCDCF2"/>
                </a:solidFill>
              </a:defRPr>
            </a:pPr>
            <a:r>
              <a:t>Easy-language presentation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 Dataset Overview</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What this dashboard is built from</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7" name="TextBox 6"/>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2</a:t>
            </a:r>
          </a:p>
        </p:txBody>
      </p:sp>
      <p:sp>
        <p:nvSpPr>
          <p:cNvPr id="8" name="Rounded Rectangle 7"/>
          <p:cNvSpPr/>
          <p:nvPr/>
        </p:nvSpPr>
        <p:spPr>
          <a:xfrm>
            <a:off x="640080" y="1508760"/>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618488"/>
            <a:ext cx="3017520" cy="274320"/>
          </a:xfrm>
          <a:prstGeom prst="rect">
            <a:avLst/>
          </a:prstGeom>
          <a:noFill/>
        </p:spPr>
        <p:txBody>
          <a:bodyPr wrap="square">
            <a:spAutoFit/>
          </a:bodyPr>
          <a:lstStyle/>
          <a:p>
            <a:pPr>
              <a:defRPr sz="1200" b="0">
                <a:solidFill>
                  <a:srgbClr val="505B69"/>
                </a:solidFill>
              </a:defRPr>
            </a:pPr>
            <a:r>
              <a:t>Total Orders</a:t>
            </a:r>
          </a:p>
        </p:txBody>
      </p:sp>
      <p:sp>
        <p:nvSpPr>
          <p:cNvPr id="10" name="TextBox 9"/>
          <p:cNvSpPr txBox="1"/>
          <p:nvPr/>
        </p:nvSpPr>
        <p:spPr>
          <a:xfrm>
            <a:off x="804671" y="1920240"/>
            <a:ext cx="3017520" cy="384048"/>
          </a:xfrm>
          <a:prstGeom prst="rect">
            <a:avLst/>
          </a:prstGeom>
          <a:noFill/>
        </p:spPr>
        <p:txBody>
          <a:bodyPr wrap="square">
            <a:spAutoFit/>
          </a:bodyPr>
          <a:lstStyle/>
          <a:p>
            <a:pPr>
              <a:defRPr sz="2300" b="1">
                <a:solidFill>
                  <a:srgbClr val="182B4C"/>
                </a:solidFill>
              </a:defRPr>
            </a:pPr>
            <a:r>
              <a:t>30</a:t>
            </a:r>
          </a:p>
        </p:txBody>
      </p:sp>
      <p:sp>
        <p:nvSpPr>
          <p:cNvPr id="11" name="Rounded Rectangle 10"/>
          <p:cNvSpPr/>
          <p:nvPr/>
        </p:nvSpPr>
        <p:spPr>
          <a:xfrm>
            <a:off x="4434840" y="1508760"/>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618488"/>
            <a:ext cx="3017520" cy="274320"/>
          </a:xfrm>
          <a:prstGeom prst="rect">
            <a:avLst/>
          </a:prstGeom>
          <a:noFill/>
        </p:spPr>
        <p:txBody>
          <a:bodyPr wrap="square">
            <a:spAutoFit/>
          </a:bodyPr>
          <a:lstStyle/>
          <a:p>
            <a:pPr>
              <a:defRPr sz="1200" b="0">
                <a:solidFill>
                  <a:srgbClr val="505B69"/>
                </a:solidFill>
              </a:defRPr>
            </a:pPr>
            <a:r>
              <a:t>Units Sold</a:t>
            </a:r>
          </a:p>
        </p:txBody>
      </p:sp>
      <p:sp>
        <p:nvSpPr>
          <p:cNvPr id="13" name="TextBox 12"/>
          <p:cNvSpPr txBox="1"/>
          <p:nvPr/>
        </p:nvSpPr>
        <p:spPr>
          <a:xfrm>
            <a:off x="4599432" y="1920240"/>
            <a:ext cx="3017520" cy="384048"/>
          </a:xfrm>
          <a:prstGeom prst="rect">
            <a:avLst/>
          </a:prstGeom>
          <a:noFill/>
        </p:spPr>
        <p:txBody>
          <a:bodyPr wrap="square">
            <a:spAutoFit/>
          </a:bodyPr>
          <a:lstStyle/>
          <a:p>
            <a:pPr>
              <a:defRPr sz="2300" b="1">
                <a:solidFill>
                  <a:srgbClr val="182B4C"/>
                </a:solidFill>
              </a:defRPr>
            </a:pPr>
            <a:r>
              <a:t>43</a:t>
            </a:r>
          </a:p>
        </p:txBody>
      </p:sp>
      <p:sp>
        <p:nvSpPr>
          <p:cNvPr id="14" name="Rounded Rectangle 13"/>
          <p:cNvSpPr/>
          <p:nvPr/>
        </p:nvSpPr>
        <p:spPr>
          <a:xfrm>
            <a:off x="8229600" y="1508760"/>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618488"/>
            <a:ext cx="3017520" cy="274320"/>
          </a:xfrm>
          <a:prstGeom prst="rect">
            <a:avLst/>
          </a:prstGeom>
          <a:noFill/>
        </p:spPr>
        <p:txBody>
          <a:bodyPr wrap="square">
            <a:spAutoFit/>
          </a:bodyPr>
          <a:lstStyle/>
          <a:p>
            <a:pPr>
              <a:defRPr sz="1200" b="0">
                <a:solidFill>
                  <a:srgbClr val="505B69"/>
                </a:solidFill>
              </a:defRPr>
            </a:pPr>
            <a:r>
              <a:t>Sales Amount</a:t>
            </a:r>
          </a:p>
        </p:txBody>
      </p:sp>
      <p:sp>
        <p:nvSpPr>
          <p:cNvPr id="16" name="TextBox 15"/>
          <p:cNvSpPr txBox="1"/>
          <p:nvPr/>
        </p:nvSpPr>
        <p:spPr>
          <a:xfrm>
            <a:off x="8394192" y="1920240"/>
            <a:ext cx="3017520" cy="384048"/>
          </a:xfrm>
          <a:prstGeom prst="rect">
            <a:avLst/>
          </a:prstGeom>
          <a:noFill/>
        </p:spPr>
        <p:txBody>
          <a:bodyPr wrap="square">
            <a:spAutoFit/>
          </a:bodyPr>
          <a:lstStyle/>
          <a:p>
            <a:pPr>
              <a:defRPr sz="2300" b="1">
                <a:solidFill>
                  <a:srgbClr val="182B4C"/>
                </a:solidFill>
              </a:defRPr>
            </a:pPr>
            <a:r>
              <a:t>₹62,057</a:t>
            </a:r>
          </a:p>
        </p:txBody>
      </p:sp>
      <p:sp>
        <p:nvSpPr>
          <p:cNvPr id="17" name="Rounded Rectangle 16"/>
          <p:cNvSpPr/>
          <p:nvPr/>
        </p:nvSpPr>
        <p:spPr>
          <a:xfrm>
            <a:off x="640080" y="2834639"/>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2944368"/>
            <a:ext cx="3017520" cy="274320"/>
          </a:xfrm>
          <a:prstGeom prst="rect">
            <a:avLst/>
          </a:prstGeom>
          <a:noFill/>
        </p:spPr>
        <p:txBody>
          <a:bodyPr wrap="square">
            <a:spAutoFit/>
          </a:bodyPr>
          <a:lstStyle/>
          <a:p>
            <a:pPr>
              <a:defRPr sz="1200" b="0">
                <a:solidFill>
                  <a:srgbClr val="505B69"/>
                </a:solidFill>
              </a:defRPr>
            </a:pPr>
            <a:r>
              <a:t>Average Rating</a:t>
            </a:r>
          </a:p>
        </p:txBody>
      </p:sp>
      <p:sp>
        <p:nvSpPr>
          <p:cNvPr id="19" name="TextBox 18"/>
          <p:cNvSpPr txBox="1"/>
          <p:nvPr/>
        </p:nvSpPr>
        <p:spPr>
          <a:xfrm>
            <a:off x="804671" y="3246120"/>
            <a:ext cx="3017520" cy="384048"/>
          </a:xfrm>
          <a:prstGeom prst="rect">
            <a:avLst/>
          </a:prstGeom>
          <a:noFill/>
        </p:spPr>
        <p:txBody>
          <a:bodyPr wrap="square">
            <a:spAutoFit/>
          </a:bodyPr>
          <a:lstStyle/>
          <a:p>
            <a:pPr>
              <a:defRPr sz="2300" b="1">
                <a:solidFill>
                  <a:srgbClr val="182B4C"/>
                </a:solidFill>
              </a:defRPr>
            </a:pPr>
            <a:r>
              <a:t>4.16 / 5</a:t>
            </a:r>
          </a:p>
        </p:txBody>
      </p:sp>
      <p:sp>
        <p:nvSpPr>
          <p:cNvPr id="20" name="Rounded Rectangle 19"/>
          <p:cNvSpPr/>
          <p:nvPr/>
        </p:nvSpPr>
        <p:spPr>
          <a:xfrm>
            <a:off x="4434840" y="2834639"/>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9432" y="2944368"/>
            <a:ext cx="3017520" cy="274320"/>
          </a:xfrm>
          <a:prstGeom prst="rect">
            <a:avLst/>
          </a:prstGeom>
          <a:noFill/>
        </p:spPr>
        <p:txBody>
          <a:bodyPr wrap="square">
            <a:spAutoFit/>
          </a:bodyPr>
          <a:lstStyle/>
          <a:p>
            <a:pPr>
              <a:defRPr sz="1200" b="0">
                <a:solidFill>
                  <a:srgbClr val="505B69"/>
                </a:solidFill>
              </a:defRPr>
            </a:pPr>
            <a:r>
              <a:t>Products</a:t>
            </a:r>
          </a:p>
        </p:txBody>
      </p:sp>
      <p:sp>
        <p:nvSpPr>
          <p:cNvPr id="22" name="TextBox 21"/>
          <p:cNvSpPr txBox="1"/>
          <p:nvPr/>
        </p:nvSpPr>
        <p:spPr>
          <a:xfrm>
            <a:off x="4599432" y="3246120"/>
            <a:ext cx="3017520" cy="384048"/>
          </a:xfrm>
          <a:prstGeom prst="rect">
            <a:avLst/>
          </a:prstGeom>
          <a:noFill/>
        </p:spPr>
        <p:txBody>
          <a:bodyPr wrap="square">
            <a:spAutoFit/>
          </a:bodyPr>
          <a:lstStyle/>
          <a:p>
            <a:pPr>
              <a:defRPr sz="2300" b="1">
                <a:solidFill>
                  <a:srgbClr val="182B4C"/>
                </a:solidFill>
              </a:defRPr>
            </a:pPr>
            <a:r>
              <a:t>15</a:t>
            </a:r>
          </a:p>
        </p:txBody>
      </p:sp>
      <p:sp>
        <p:nvSpPr>
          <p:cNvPr id="23" name="Rounded Rectangle 22"/>
          <p:cNvSpPr/>
          <p:nvPr/>
        </p:nvSpPr>
        <p:spPr>
          <a:xfrm>
            <a:off x="8229600" y="2834639"/>
            <a:ext cx="3383280" cy="960120"/>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2944368"/>
            <a:ext cx="3017520" cy="274320"/>
          </a:xfrm>
          <a:prstGeom prst="rect">
            <a:avLst/>
          </a:prstGeom>
          <a:noFill/>
        </p:spPr>
        <p:txBody>
          <a:bodyPr wrap="square">
            <a:spAutoFit/>
          </a:bodyPr>
          <a:lstStyle/>
          <a:p>
            <a:pPr>
              <a:defRPr sz="1200" b="0">
                <a:solidFill>
                  <a:srgbClr val="505B69"/>
                </a:solidFill>
              </a:defRPr>
            </a:pPr>
            <a:r>
              <a:t>Cities</a:t>
            </a:r>
          </a:p>
        </p:txBody>
      </p:sp>
      <p:sp>
        <p:nvSpPr>
          <p:cNvPr id="25" name="TextBox 24"/>
          <p:cNvSpPr txBox="1"/>
          <p:nvPr/>
        </p:nvSpPr>
        <p:spPr>
          <a:xfrm>
            <a:off x="8394192" y="3246120"/>
            <a:ext cx="3017520" cy="384048"/>
          </a:xfrm>
          <a:prstGeom prst="rect">
            <a:avLst/>
          </a:prstGeom>
          <a:noFill/>
        </p:spPr>
        <p:txBody>
          <a:bodyPr wrap="square">
            <a:spAutoFit/>
          </a:bodyPr>
          <a:lstStyle/>
          <a:p>
            <a:pPr>
              <a:defRPr sz="2300" b="1">
                <a:solidFill>
                  <a:srgbClr val="182B4C"/>
                </a:solidFill>
              </a:defRPr>
            </a:pPr>
            <a:r>
              <a:t>20</a:t>
            </a:r>
          </a:p>
        </p:txBody>
      </p:sp>
      <p:sp>
        <p:nvSpPr>
          <p:cNvPr id="26" name="TextBox 25"/>
          <p:cNvSpPr txBox="1"/>
          <p:nvPr/>
        </p:nvSpPr>
        <p:spPr>
          <a:xfrm>
            <a:off x="731520" y="4526280"/>
            <a:ext cx="10789920" cy="1188720"/>
          </a:xfrm>
          <a:prstGeom prst="rect">
            <a:avLst/>
          </a:prstGeom>
          <a:noFill/>
        </p:spPr>
        <p:txBody>
          <a:bodyPr wrap="square">
            <a:spAutoFit/>
          </a:bodyPr>
          <a:lstStyle/>
          <a:p>
            <a:pPr>
              <a:defRPr sz="1600" b="0">
                <a:solidFill>
                  <a:srgbClr val="505B69"/>
                </a:solidFill>
              </a:defRPr>
            </a:pPr>
            <a:r>
              <a:t>The file contains 30 order records from January 2026. It includes product, brand, city, payment method, order status and customer rating. Each chart answers a different business question—for example, what sells best, where orders come from, and how customers rate their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_sales_by_product.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Shows which product categories bring in the most sales. Sneakers lead at ₹7,397, followed by Jackets and Jeans. This helps prioritize stock and promotions.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2.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2._orders_by_city.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Counts orders placed in each city. Lucknow has the most orders (4), while New Delhi has 3. Many cities have only one order, so comparisons should be treated as early signals.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3.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3._quantity_sold_by_gender_category.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Compares the number of items sold to Women, Men and Kids categories. Women account for 20 units, Men 16 and Kids 7. Women are the largest group in this sample.</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4.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4._sales_by_city_(top_12).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Shows the total sales value from each city. Lucknow (₹6,595) and New Delhi (₹6,495) are the top two. These cities may be useful for targeted campaigns.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5.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5._average_customer_rating_by_city.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Displays the average customer rating for each city. Mysuru has the highest average (4.7), but it has only one order. Use ratings with order counts for fair comparisons.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6.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6._orders_by_status.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Shows how orders ended: 24 delivered, 4 returned and 2 cancelled. Most orders were delivered, but returns and cancellations should be reviewed to improve customer experience.</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7.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7._sales_by_payment_method.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Compares sales value by payment type. UPI contributes the most sales (₹23,381), followed by Credit Card (₹18,092). This can help guide checkout and payment support decisions.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8.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8._sales_by_brand_(top_10).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Ranks brands by sales amount. Roadster leads with ₹11,394 in this dataset. Brand sales can guide merchandising, but the sample is small and covers only 30 orders.</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9.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9_daily_sales_trend.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Shows sales recorded on each order date. Since the file has one order per date, this is mainly a view of order-level sales variation—not a reliable long-term trend. More months of data would help identify seasonality.</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10. Dashboard Chart Explanation</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Read the chart first, then use the note below to understand what it means.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0._units_sold_by_product_(top_12).png"/>
          <p:cNvPicPr>
            <a:picLocks noChangeAspect="1"/>
          </p:cNvPicPr>
          <p:nvPr/>
        </p:nvPicPr>
        <p:blipFill>
          <a:blip r:embed="rId2"/>
          <a:stretch>
            <a:fillRect/>
          </a:stretch>
        </p:blipFill>
        <p:spPr>
          <a:xfrm>
            <a:off x="502920" y="1371600"/>
            <a:ext cx="6903720" cy="4480560"/>
          </a:xfrm>
          <a:prstGeom prst="rect">
            <a:avLst/>
          </a:prstGeom>
        </p:spPr>
      </p:pic>
      <p:sp>
        <p:nvSpPr>
          <p:cNvPr id="7" name="Rounded Rectangle 6"/>
          <p:cNvSpPr/>
          <p:nvPr/>
        </p:nvSpPr>
        <p:spPr>
          <a:xfrm>
            <a:off x="7635240" y="1600200"/>
            <a:ext cx="3977639" cy="3977639"/>
          </a:xfrm>
          <a:prstGeom prst="roundRect">
            <a:avLst/>
          </a:prstGeom>
          <a:solidFill>
            <a:srgbClr val="EBF6FB"/>
          </a:solidFill>
          <a:ln>
            <a:solidFill>
              <a:srgbClr val="D2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874519"/>
            <a:ext cx="3429000" cy="502920"/>
          </a:xfrm>
          <a:prstGeom prst="rect">
            <a:avLst/>
          </a:prstGeom>
          <a:noFill/>
        </p:spPr>
        <p:txBody>
          <a:bodyPr wrap="square">
            <a:spAutoFit/>
          </a:bodyPr>
          <a:lstStyle/>
          <a:p>
            <a:pPr>
              <a:defRPr sz="1500" b="1">
                <a:solidFill>
                  <a:srgbClr val="3F8BCB"/>
                </a:solidFill>
              </a:defRPr>
            </a:pPr>
            <a:r>
              <a:t>IN SIMPLE WORDS</a:t>
            </a:r>
          </a:p>
        </p:txBody>
      </p:sp>
      <p:sp>
        <p:nvSpPr>
          <p:cNvPr id="9" name="TextBox 8"/>
          <p:cNvSpPr txBox="1"/>
          <p:nvPr/>
        </p:nvSpPr>
        <p:spPr>
          <a:xfrm>
            <a:off x="7909560" y="2514600"/>
            <a:ext cx="3383280" cy="2468880"/>
          </a:xfrm>
          <a:prstGeom prst="rect">
            <a:avLst/>
          </a:prstGeom>
          <a:noFill/>
        </p:spPr>
        <p:txBody>
          <a:bodyPr wrap="square">
            <a:spAutoFit/>
          </a:bodyPr>
          <a:lstStyle/>
          <a:p>
            <a:pPr>
              <a:defRPr sz="1500" b="0">
                <a:solidFill>
                  <a:srgbClr val="182B4C"/>
                </a:solidFill>
              </a:defRPr>
            </a:pPr>
            <a:r>
              <a:t>Shows how many individual units were sold in each product category. T-shirts lead with 8 units, followed by Tops with 5. This differs from sales value because some products have multiple units per order.</a:t>
            </a:r>
          </a:p>
        </p:txBody>
      </p:sp>
      <p:sp>
        <p:nvSpPr>
          <p:cNvPr id="10" name="TextBox 9"/>
          <p:cNvSpPr txBox="1"/>
          <p:nvPr/>
        </p:nvSpPr>
        <p:spPr>
          <a:xfrm>
            <a:off x="7909560" y="4983480"/>
            <a:ext cx="3337560" cy="457200"/>
          </a:xfrm>
          <a:prstGeom prst="rect">
            <a:avLst/>
          </a:prstGeom>
          <a:noFill/>
        </p:spPr>
        <p:txBody>
          <a:bodyPr wrap="square">
            <a:spAutoFit/>
          </a:bodyPr>
          <a:lstStyle/>
          <a:p>
            <a:pPr>
              <a:defRPr sz="1000" b="0">
                <a:solidFill>
                  <a:srgbClr val="505B69"/>
                </a:solidFill>
              </a:defRPr>
            </a:pPr>
            <a:r>
              <a:t>Tip: Compare totals and context together.</a:t>
            </a:r>
          </a:p>
        </p:txBody>
      </p:sp>
      <p:sp>
        <p:nvSpPr>
          <p:cNvPr id="11" name="TextBox 10"/>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12" name="TextBox 11"/>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12. How to Read the Original Dashboard</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The uploaded screenshot contains KPI cards and several charts.</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7" name="TextBox 6"/>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13</a:t>
            </a:r>
          </a:p>
        </p:txBody>
      </p:sp>
      <p:pic>
        <p:nvPicPr>
          <p:cNvPr id="8" name="Picture 7" descr="1000203116.jpg"/>
          <p:cNvPicPr>
            <a:picLocks noChangeAspect="1"/>
          </p:cNvPicPr>
          <p:nvPr/>
        </p:nvPicPr>
        <p:blipFill>
          <a:blip r:embed="rId2"/>
          <a:stretch>
            <a:fillRect/>
          </a:stretch>
        </p:blipFill>
        <p:spPr>
          <a:xfrm>
            <a:off x="502920" y="1353312"/>
            <a:ext cx="6492240" cy="3886200"/>
          </a:xfrm>
          <a:prstGeom prst="rect">
            <a:avLst/>
          </a:prstGeom>
        </p:spPr>
      </p:pic>
      <p:sp>
        <p:nvSpPr>
          <p:cNvPr id="9" name="TextBox 8"/>
          <p:cNvSpPr txBox="1"/>
          <p:nvPr/>
        </p:nvSpPr>
        <p:spPr>
          <a:xfrm>
            <a:off x="7269480" y="1463040"/>
            <a:ext cx="4297680" cy="384048"/>
          </a:xfrm>
          <a:prstGeom prst="rect">
            <a:avLst/>
          </a:prstGeom>
          <a:noFill/>
        </p:spPr>
        <p:txBody>
          <a:bodyPr wrap="square">
            <a:spAutoFit/>
          </a:bodyPr>
          <a:lstStyle/>
          <a:p>
            <a:pPr>
              <a:defRPr sz="1600" b="1">
                <a:solidFill>
                  <a:srgbClr val="3F8BCB"/>
                </a:solidFill>
              </a:defRPr>
            </a:pPr>
            <a:r>
              <a:t>What each visible element means</a:t>
            </a:r>
          </a:p>
        </p:txBody>
      </p:sp>
      <p:sp>
        <p:nvSpPr>
          <p:cNvPr id="10" name="TextBox 9"/>
          <p:cNvSpPr txBox="1"/>
          <p:nvPr/>
        </p:nvSpPr>
        <p:spPr>
          <a:xfrm>
            <a:off x="7269480" y="1901952"/>
            <a:ext cx="4206240" cy="256032"/>
          </a:xfrm>
          <a:prstGeom prst="rect">
            <a:avLst/>
          </a:prstGeom>
          <a:noFill/>
        </p:spPr>
        <p:txBody>
          <a:bodyPr wrap="square">
            <a:spAutoFit/>
          </a:bodyPr>
          <a:lstStyle/>
          <a:p>
            <a:pPr>
              <a:defRPr sz="1100" b="1">
                <a:solidFill>
                  <a:srgbClr val="182B4C"/>
                </a:solidFill>
              </a:defRPr>
            </a:pPr>
            <a:r>
              <a:t>Product strip at top</a:t>
            </a:r>
          </a:p>
        </p:txBody>
      </p:sp>
      <p:sp>
        <p:nvSpPr>
          <p:cNvPr id="11" name="TextBox 10"/>
          <p:cNvSpPr txBox="1"/>
          <p:nvPr/>
        </p:nvSpPr>
        <p:spPr>
          <a:xfrm>
            <a:off x="7269480" y="2148840"/>
            <a:ext cx="4160520" cy="475488"/>
          </a:xfrm>
          <a:prstGeom prst="rect">
            <a:avLst/>
          </a:prstGeom>
          <a:noFill/>
        </p:spPr>
        <p:txBody>
          <a:bodyPr wrap="square">
            <a:spAutoFit/>
          </a:bodyPr>
          <a:lstStyle/>
          <a:p>
            <a:pPr>
              <a:defRPr sz="900" b="0">
                <a:solidFill>
                  <a:srgbClr val="505B69"/>
                </a:solidFill>
              </a:defRPr>
            </a:pPr>
            <a:r>
              <a:t>Compares the sum of listed unit prices by product. It is not the same as sales revenue.</a:t>
            </a:r>
          </a:p>
        </p:txBody>
      </p:sp>
      <p:sp>
        <p:nvSpPr>
          <p:cNvPr id="12" name="TextBox 11"/>
          <p:cNvSpPr txBox="1"/>
          <p:nvPr/>
        </p:nvSpPr>
        <p:spPr>
          <a:xfrm>
            <a:off x="7269480" y="2505456"/>
            <a:ext cx="4206240" cy="256032"/>
          </a:xfrm>
          <a:prstGeom prst="rect">
            <a:avLst/>
          </a:prstGeom>
          <a:noFill/>
        </p:spPr>
        <p:txBody>
          <a:bodyPr wrap="square">
            <a:spAutoFit/>
          </a:bodyPr>
          <a:lstStyle/>
          <a:p>
            <a:pPr>
              <a:defRPr sz="1100" b="1">
                <a:solidFill>
                  <a:srgbClr val="182B4C"/>
                </a:solidFill>
              </a:defRPr>
            </a:pPr>
            <a:r>
              <a:t>KPI cards</a:t>
            </a:r>
          </a:p>
        </p:txBody>
      </p:sp>
      <p:sp>
        <p:nvSpPr>
          <p:cNvPr id="13" name="TextBox 12"/>
          <p:cNvSpPr txBox="1"/>
          <p:nvPr/>
        </p:nvSpPr>
        <p:spPr>
          <a:xfrm>
            <a:off x="7269480" y="2752344"/>
            <a:ext cx="4160520" cy="475488"/>
          </a:xfrm>
          <a:prstGeom prst="rect">
            <a:avLst/>
          </a:prstGeom>
          <a:noFill/>
        </p:spPr>
        <p:txBody>
          <a:bodyPr wrap="square">
            <a:spAutoFit/>
          </a:bodyPr>
          <a:lstStyle/>
          <a:p>
            <a:pPr>
              <a:defRPr sz="900" b="0">
                <a:solidFill>
                  <a:srgbClr val="505B69"/>
                </a:solidFill>
              </a:defRPr>
            </a:pPr>
            <a:r>
              <a:t>Quick totals: unit price sum, quantity, order count, sales amount and rating sum.</a:t>
            </a:r>
          </a:p>
        </p:txBody>
      </p:sp>
      <p:sp>
        <p:nvSpPr>
          <p:cNvPr id="14" name="TextBox 13"/>
          <p:cNvSpPr txBox="1"/>
          <p:nvPr/>
        </p:nvSpPr>
        <p:spPr>
          <a:xfrm>
            <a:off x="7269480" y="3108960"/>
            <a:ext cx="4206240" cy="256032"/>
          </a:xfrm>
          <a:prstGeom prst="rect">
            <a:avLst/>
          </a:prstGeom>
          <a:noFill/>
        </p:spPr>
        <p:txBody>
          <a:bodyPr wrap="square">
            <a:spAutoFit/>
          </a:bodyPr>
          <a:lstStyle/>
          <a:p>
            <a:pPr>
              <a:defRPr sz="1100" b="1">
                <a:solidFill>
                  <a:srgbClr val="182B4C"/>
                </a:solidFill>
              </a:defRPr>
            </a:pPr>
            <a:r>
              <a:t>Orders by city</a:t>
            </a:r>
          </a:p>
        </p:txBody>
      </p:sp>
      <p:sp>
        <p:nvSpPr>
          <p:cNvPr id="15" name="TextBox 14"/>
          <p:cNvSpPr txBox="1"/>
          <p:nvPr/>
        </p:nvSpPr>
        <p:spPr>
          <a:xfrm>
            <a:off x="7269480" y="3355848"/>
            <a:ext cx="4160520" cy="475488"/>
          </a:xfrm>
          <a:prstGeom prst="rect">
            <a:avLst/>
          </a:prstGeom>
          <a:noFill/>
        </p:spPr>
        <p:txBody>
          <a:bodyPr wrap="square">
            <a:spAutoFit/>
          </a:bodyPr>
          <a:lstStyle/>
          <a:p>
            <a:pPr>
              <a:defRPr sz="900" b="0">
                <a:solidFill>
                  <a:srgbClr val="505B69"/>
                </a:solidFill>
              </a:defRPr>
            </a:pPr>
            <a:r>
              <a:t>Bars show how many orders came from each city. Taller bars mean more orders.</a:t>
            </a:r>
          </a:p>
        </p:txBody>
      </p:sp>
      <p:sp>
        <p:nvSpPr>
          <p:cNvPr id="16" name="TextBox 15"/>
          <p:cNvSpPr txBox="1"/>
          <p:nvPr/>
        </p:nvSpPr>
        <p:spPr>
          <a:xfrm>
            <a:off x="7269480" y="3712464"/>
            <a:ext cx="4206240" cy="256032"/>
          </a:xfrm>
          <a:prstGeom prst="rect">
            <a:avLst/>
          </a:prstGeom>
          <a:noFill/>
        </p:spPr>
        <p:txBody>
          <a:bodyPr wrap="square">
            <a:spAutoFit/>
          </a:bodyPr>
          <a:lstStyle/>
          <a:p>
            <a:pPr>
              <a:defRPr sz="1100" b="1">
                <a:solidFill>
                  <a:srgbClr val="182B4C"/>
                </a:solidFill>
              </a:defRPr>
            </a:pPr>
            <a:r>
              <a:t>Quantity by gender</a:t>
            </a:r>
          </a:p>
        </p:txBody>
      </p:sp>
      <p:sp>
        <p:nvSpPr>
          <p:cNvPr id="17" name="TextBox 16"/>
          <p:cNvSpPr txBox="1"/>
          <p:nvPr/>
        </p:nvSpPr>
        <p:spPr>
          <a:xfrm>
            <a:off x="7269480" y="3959352"/>
            <a:ext cx="4160520" cy="475488"/>
          </a:xfrm>
          <a:prstGeom prst="rect">
            <a:avLst/>
          </a:prstGeom>
          <a:noFill/>
        </p:spPr>
        <p:txBody>
          <a:bodyPr wrap="square">
            <a:spAutoFit/>
          </a:bodyPr>
          <a:lstStyle/>
          <a:p>
            <a:pPr>
              <a:defRPr sz="900" b="0">
                <a:solidFill>
                  <a:srgbClr val="505B69"/>
                </a:solidFill>
              </a:defRPr>
            </a:pPr>
            <a:r>
              <a:t>Donut chart shows units by Women, Men and Kids categories.</a:t>
            </a:r>
          </a:p>
        </p:txBody>
      </p:sp>
      <p:sp>
        <p:nvSpPr>
          <p:cNvPr id="18" name="TextBox 17"/>
          <p:cNvSpPr txBox="1"/>
          <p:nvPr/>
        </p:nvSpPr>
        <p:spPr>
          <a:xfrm>
            <a:off x="7269480" y="4315968"/>
            <a:ext cx="4206240" cy="256032"/>
          </a:xfrm>
          <a:prstGeom prst="rect">
            <a:avLst/>
          </a:prstGeom>
          <a:noFill/>
        </p:spPr>
        <p:txBody>
          <a:bodyPr wrap="square">
            <a:spAutoFit/>
          </a:bodyPr>
          <a:lstStyle/>
          <a:p>
            <a:pPr>
              <a:defRPr sz="1100" b="1">
                <a:solidFill>
                  <a:srgbClr val="182B4C"/>
                </a:solidFill>
              </a:defRPr>
            </a:pPr>
            <a:r>
              <a:t>Unit price / sales by city</a:t>
            </a:r>
          </a:p>
        </p:txBody>
      </p:sp>
      <p:sp>
        <p:nvSpPr>
          <p:cNvPr id="19" name="TextBox 18"/>
          <p:cNvSpPr txBox="1"/>
          <p:nvPr/>
        </p:nvSpPr>
        <p:spPr>
          <a:xfrm>
            <a:off x="7269480" y="4562856"/>
            <a:ext cx="4160520" cy="475488"/>
          </a:xfrm>
          <a:prstGeom prst="rect">
            <a:avLst/>
          </a:prstGeom>
          <a:noFill/>
        </p:spPr>
        <p:txBody>
          <a:bodyPr wrap="square">
            <a:spAutoFit/>
          </a:bodyPr>
          <a:lstStyle/>
          <a:p>
            <a:pPr>
              <a:defRPr sz="900" b="0">
                <a:solidFill>
                  <a:srgbClr val="505B69"/>
                </a:solidFill>
              </a:defRPr>
            </a:pPr>
            <a:r>
              <a:t>City charts compare price totals or sales totals. Use the sales amount chart for revenue comparisons.</a:t>
            </a:r>
          </a:p>
        </p:txBody>
      </p:sp>
      <p:sp>
        <p:nvSpPr>
          <p:cNvPr id="20" name="TextBox 19"/>
          <p:cNvSpPr txBox="1"/>
          <p:nvPr/>
        </p:nvSpPr>
        <p:spPr>
          <a:xfrm>
            <a:off x="7269480" y="4919472"/>
            <a:ext cx="4206240" cy="256032"/>
          </a:xfrm>
          <a:prstGeom prst="rect">
            <a:avLst/>
          </a:prstGeom>
          <a:noFill/>
        </p:spPr>
        <p:txBody>
          <a:bodyPr wrap="square">
            <a:spAutoFit/>
          </a:bodyPr>
          <a:lstStyle/>
          <a:p>
            <a:pPr>
              <a:defRPr sz="1100" b="1">
                <a:solidFill>
                  <a:srgbClr val="182B4C"/>
                </a:solidFill>
              </a:defRPr>
            </a:pPr>
            <a:r>
              <a:t>Rating by city</a:t>
            </a:r>
          </a:p>
        </p:txBody>
      </p:sp>
      <p:sp>
        <p:nvSpPr>
          <p:cNvPr id="21" name="TextBox 20"/>
          <p:cNvSpPr txBox="1"/>
          <p:nvPr/>
        </p:nvSpPr>
        <p:spPr>
          <a:xfrm>
            <a:off x="7269480" y="5166360"/>
            <a:ext cx="4160520" cy="475488"/>
          </a:xfrm>
          <a:prstGeom prst="rect">
            <a:avLst/>
          </a:prstGeom>
          <a:noFill/>
        </p:spPr>
        <p:txBody>
          <a:bodyPr wrap="square">
            <a:spAutoFit/>
          </a:bodyPr>
          <a:lstStyle/>
          <a:p>
            <a:pPr>
              <a:defRPr sz="900" b="0">
                <a:solidFill>
                  <a:srgbClr val="505B69"/>
                </a:solidFill>
              </a:defRPr>
            </a:pPr>
            <a:r>
              <a:t>Shows the sum or average of ratings depending on the visual setup. Average rating is usually easier to interpret.</a:t>
            </a:r>
          </a:p>
        </p:txBody>
      </p:sp>
      <p:sp>
        <p:nvSpPr>
          <p:cNvPr id="22" name="TextBox 21"/>
          <p:cNvSpPr txBox="1"/>
          <p:nvPr/>
        </p:nvSpPr>
        <p:spPr>
          <a:xfrm>
            <a:off x="7269480" y="5522976"/>
            <a:ext cx="4206240" cy="256032"/>
          </a:xfrm>
          <a:prstGeom prst="rect">
            <a:avLst/>
          </a:prstGeom>
          <a:noFill/>
        </p:spPr>
        <p:txBody>
          <a:bodyPr wrap="square">
            <a:spAutoFit/>
          </a:bodyPr>
          <a:lstStyle/>
          <a:p>
            <a:pPr>
              <a:defRPr sz="1100" b="1">
                <a:solidFill>
                  <a:srgbClr val="182B4C"/>
                </a:solidFill>
              </a:defRPr>
            </a:pPr>
            <a:r>
              <a:t>Order status by gender</a:t>
            </a:r>
          </a:p>
        </p:txBody>
      </p:sp>
      <p:sp>
        <p:nvSpPr>
          <p:cNvPr id="23" name="TextBox 22"/>
          <p:cNvSpPr txBox="1"/>
          <p:nvPr/>
        </p:nvSpPr>
        <p:spPr>
          <a:xfrm>
            <a:off x="7269480" y="5769864"/>
            <a:ext cx="4160520" cy="475488"/>
          </a:xfrm>
          <a:prstGeom prst="rect">
            <a:avLst/>
          </a:prstGeom>
          <a:noFill/>
        </p:spPr>
        <p:txBody>
          <a:bodyPr wrap="square">
            <a:spAutoFit/>
          </a:bodyPr>
          <a:lstStyle/>
          <a:p>
            <a:pPr>
              <a:defRPr sz="900" b="0">
                <a:solidFill>
                  <a:srgbClr val="505B69"/>
                </a:solidFill>
              </a:defRPr>
            </a:pPr>
            <a:r>
              <a:t>A pie chart should show order status counts; if the legend shows gender, the visual fields may be configured incorrectly.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13. Key Findings and Recommendations</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A quick summary you can present in class or in a project review.</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7" name="TextBox 6"/>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14</a:t>
            </a:r>
          </a:p>
        </p:txBody>
      </p:sp>
      <p:sp>
        <p:nvSpPr>
          <p:cNvPr id="8" name="TextBox 7"/>
          <p:cNvSpPr txBox="1"/>
          <p:nvPr/>
        </p:nvSpPr>
        <p:spPr>
          <a:xfrm>
            <a:off x="777240" y="1417320"/>
            <a:ext cx="5120640" cy="320040"/>
          </a:xfrm>
          <a:prstGeom prst="rect">
            <a:avLst/>
          </a:prstGeom>
          <a:noFill/>
        </p:spPr>
        <p:txBody>
          <a:bodyPr wrap="square">
            <a:spAutoFit/>
          </a:bodyPr>
          <a:lstStyle/>
          <a:p>
            <a:pPr>
              <a:defRPr sz="1400" b="1">
                <a:solidFill>
                  <a:srgbClr val="3F8BCB"/>
                </a:solidFill>
              </a:defRPr>
            </a:pPr>
            <a:r>
              <a:t>1. Best-selling product by sales value</a:t>
            </a:r>
          </a:p>
        </p:txBody>
      </p:sp>
      <p:sp>
        <p:nvSpPr>
          <p:cNvPr id="9" name="TextBox 8"/>
          <p:cNvSpPr txBox="1"/>
          <p:nvPr/>
        </p:nvSpPr>
        <p:spPr>
          <a:xfrm>
            <a:off x="777240" y="1728216"/>
            <a:ext cx="5212080" cy="438912"/>
          </a:xfrm>
          <a:prstGeom prst="rect">
            <a:avLst/>
          </a:prstGeom>
          <a:noFill/>
        </p:spPr>
        <p:txBody>
          <a:bodyPr wrap="square">
            <a:spAutoFit/>
          </a:bodyPr>
          <a:lstStyle/>
          <a:p>
            <a:pPr>
              <a:defRPr sz="1100" b="0">
                <a:solidFill>
                  <a:srgbClr val="505B69"/>
                </a:solidFill>
              </a:defRPr>
            </a:pPr>
            <a:r>
              <a:t>Sneakers lead with ₹7,397 in sales; Jackets and Jeans follow.</a:t>
            </a:r>
          </a:p>
        </p:txBody>
      </p:sp>
      <p:sp>
        <p:nvSpPr>
          <p:cNvPr id="10" name="TextBox 9"/>
          <p:cNvSpPr txBox="1"/>
          <p:nvPr/>
        </p:nvSpPr>
        <p:spPr>
          <a:xfrm>
            <a:off x="777240" y="2203704"/>
            <a:ext cx="5120640" cy="320040"/>
          </a:xfrm>
          <a:prstGeom prst="rect">
            <a:avLst/>
          </a:prstGeom>
          <a:noFill/>
        </p:spPr>
        <p:txBody>
          <a:bodyPr wrap="square">
            <a:spAutoFit/>
          </a:bodyPr>
          <a:lstStyle/>
          <a:p>
            <a:pPr>
              <a:defRPr sz="1400" b="1">
                <a:solidFill>
                  <a:srgbClr val="3F8BCB"/>
                </a:solidFill>
              </a:defRPr>
            </a:pPr>
            <a:r>
              <a:t>2. Strongest city in this sample</a:t>
            </a:r>
          </a:p>
        </p:txBody>
      </p:sp>
      <p:sp>
        <p:nvSpPr>
          <p:cNvPr id="11" name="TextBox 10"/>
          <p:cNvSpPr txBox="1"/>
          <p:nvPr/>
        </p:nvSpPr>
        <p:spPr>
          <a:xfrm>
            <a:off x="777240" y="2514600"/>
            <a:ext cx="5212080" cy="438912"/>
          </a:xfrm>
          <a:prstGeom prst="rect">
            <a:avLst/>
          </a:prstGeom>
          <a:noFill/>
        </p:spPr>
        <p:txBody>
          <a:bodyPr wrap="square">
            <a:spAutoFit/>
          </a:bodyPr>
          <a:lstStyle/>
          <a:p>
            <a:pPr>
              <a:defRPr sz="1100" b="0">
                <a:solidFill>
                  <a:srgbClr val="505B69"/>
                </a:solidFill>
              </a:defRPr>
            </a:pPr>
            <a:r>
              <a:t>Lucknow has 4 orders and ₹6,595 sales, just ahead of New Delhi at ₹6,495.</a:t>
            </a:r>
          </a:p>
        </p:txBody>
      </p:sp>
      <p:sp>
        <p:nvSpPr>
          <p:cNvPr id="12" name="TextBox 11"/>
          <p:cNvSpPr txBox="1"/>
          <p:nvPr/>
        </p:nvSpPr>
        <p:spPr>
          <a:xfrm>
            <a:off x="777240" y="2990088"/>
            <a:ext cx="5120640" cy="320040"/>
          </a:xfrm>
          <a:prstGeom prst="rect">
            <a:avLst/>
          </a:prstGeom>
          <a:noFill/>
        </p:spPr>
        <p:txBody>
          <a:bodyPr wrap="square">
            <a:spAutoFit/>
          </a:bodyPr>
          <a:lstStyle/>
          <a:p>
            <a:pPr>
              <a:defRPr sz="1400" b="1">
                <a:solidFill>
                  <a:srgbClr val="3F8BCB"/>
                </a:solidFill>
              </a:defRPr>
            </a:pPr>
            <a:r>
              <a:t>3. Gender category</a:t>
            </a:r>
          </a:p>
        </p:txBody>
      </p:sp>
      <p:sp>
        <p:nvSpPr>
          <p:cNvPr id="13" name="TextBox 12"/>
          <p:cNvSpPr txBox="1"/>
          <p:nvPr/>
        </p:nvSpPr>
        <p:spPr>
          <a:xfrm>
            <a:off x="777240" y="3300984"/>
            <a:ext cx="5212080" cy="438912"/>
          </a:xfrm>
          <a:prstGeom prst="rect">
            <a:avLst/>
          </a:prstGeom>
          <a:noFill/>
        </p:spPr>
        <p:txBody>
          <a:bodyPr wrap="square">
            <a:spAutoFit/>
          </a:bodyPr>
          <a:lstStyle/>
          <a:p>
            <a:pPr>
              <a:defRPr sz="1100" b="0">
                <a:solidFill>
                  <a:srgbClr val="505B69"/>
                </a:solidFill>
              </a:defRPr>
            </a:pPr>
            <a:r>
              <a:t>Women account for 20 units, Men 16 and Kids 7.</a:t>
            </a:r>
          </a:p>
        </p:txBody>
      </p:sp>
      <p:sp>
        <p:nvSpPr>
          <p:cNvPr id="14" name="TextBox 13"/>
          <p:cNvSpPr txBox="1"/>
          <p:nvPr/>
        </p:nvSpPr>
        <p:spPr>
          <a:xfrm>
            <a:off x="777240" y="3776472"/>
            <a:ext cx="5120640" cy="320040"/>
          </a:xfrm>
          <a:prstGeom prst="rect">
            <a:avLst/>
          </a:prstGeom>
          <a:noFill/>
        </p:spPr>
        <p:txBody>
          <a:bodyPr wrap="square">
            <a:spAutoFit/>
          </a:bodyPr>
          <a:lstStyle/>
          <a:p>
            <a:pPr>
              <a:defRPr sz="1400" b="1">
                <a:solidFill>
                  <a:srgbClr val="3F8BCB"/>
                </a:solidFill>
              </a:defRPr>
            </a:pPr>
            <a:r>
              <a:t>4. Payment choice</a:t>
            </a:r>
          </a:p>
        </p:txBody>
      </p:sp>
      <p:sp>
        <p:nvSpPr>
          <p:cNvPr id="15" name="TextBox 14"/>
          <p:cNvSpPr txBox="1"/>
          <p:nvPr/>
        </p:nvSpPr>
        <p:spPr>
          <a:xfrm>
            <a:off x="777240" y="4087368"/>
            <a:ext cx="5212080" cy="438912"/>
          </a:xfrm>
          <a:prstGeom prst="rect">
            <a:avLst/>
          </a:prstGeom>
          <a:noFill/>
        </p:spPr>
        <p:txBody>
          <a:bodyPr wrap="square">
            <a:spAutoFit/>
          </a:bodyPr>
          <a:lstStyle/>
          <a:p>
            <a:pPr>
              <a:defRPr sz="1100" b="0">
                <a:solidFill>
                  <a:srgbClr val="505B69"/>
                </a:solidFill>
              </a:defRPr>
            </a:pPr>
            <a:r>
              <a:t>UPI has the highest sales amount at ₹23,381.</a:t>
            </a:r>
          </a:p>
        </p:txBody>
      </p:sp>
      <p:sp>
        <p:nvSpPr>
          <p:cNvPr id="16" name="TextBox 15"/>
          <p:cNvSpPr txBox="1"/>
          <p:nvPr/>
        </p:nvSpPr>
        <p:spPr>
          <a:xfrm>
            <a:off x="777240" y="4562856"/>
            <a:ext cx="5120640" cy="320040"/>
          </a:xfrm>
          <a:prstGeom prst="rect">
            <a:avLst/>
          </a:prstGeom>
          <a:noFill/>
        </p:spPr>
        <p:txBody>
          <a:bodyPr wrap="square">
            <a:spAutoFit/>
          </a:bodyPr>
          <a:lstStyle/>
          <a:p>
            <a:pPr>
              <a:defRPr sz="1400" b="1">
                <a:solidFill>
                  <a:srgbClr val="3F8BCB"/>
                </a:solidFill>
              </a:defRPr>
            </a:pPr>
            <a:r>
              <a:t>5. Order fulfilment</a:t>
            </a:r>
          </a:p>
        </p:txBody>
      </p:sp>
      <p:sp>
        <p:nvSpPr>
          <p:cNvPr id="17" name="TextBox 16"/>
          <p:cNvSpPr txBox="1"/>
          <p:nvPr/>
        </p:nvSpPr>
        <p:spPr>
          <a:xfrm>
            <a:off x="777240" y="4873752"/>
            <a:ext cx="5212080" cy="438912"/>
          </a:xfrm>
          <a:prstGeom prst="rect">
            <a:avLst/>
          </a:prstGeom>
          <a:noFill/>
        </p:spPr>
        <p:txBody>
          <a:bodyPr wrap="square">
            <a:spAutoFit/>
          </a:bodyPr>
          <a:lstStyle/>
          <a:p>
            <a:pPr>
              <a:defRPr sz="1100" b="0">
                <a:solidFill>
                  <a:srgbClr val="505B69"/>
                </a:solidFill>
              </a:defRPr>
            </a:pPr>
            <a:r>
              <a:t>24 of 30 orders are delivered; 4 returned and 2 cancelled.</a:t>
            </a:r>
          </a:p>
        </p:txBody>
      </p:sp>
      <p:sp>
        <p:nvSpPr>
          <p:cNvPr id="18" name="TextBox 17"/>
          <p:cNvSpPr txBox="1"/>
          <p:nvPr/>
        </p:nvSpPr>
        <p:spPr>
          <a:xfrm>
            <a:off x="777240" y="5349240"/>
            <a:ext cx="5120640" cy="320040"/>
          </a:xfrm>
          <a:prstGeom prst="rect">
            <a:avLst/>
          </a:prstGeom>
          <a:noFill/>
        </p:spPr>
        <p:txBody>
          <a:bodyPr wrap="square">
            <a:spAutoFit/>
          </a:bodyPr>
          <a:lstStyle/>
          <a:p>
            <a:pPr>
              <a:defRPr sz="1400" b="1">
                <a:solidFill>
                  <a:srgbClr val="3F8BCB"/>
                </a:solidFill>
              </a:defRPr>
            </a:pPr>
            <a:r>
              <a:t>6. Customer satisfaction</a:t>
            </a:r>
          </a:p>
        </p:txBody>
      </p:sp>
      <p:sp>
        <p:nvSpPr>
          <p:cNvPr id="19" name="TextBox 18"/>
          <p:cNvSpPr txBox="1"/>
          <p:nvPr/>
        </p:nvSpPr>
        <p:spPr>
          <a:xfrm>
            <a:off x="777240" y="5660136"/>
            <a:ext cx="5212080" cy="438912"/>
          </a:xfrm>
          <a:prstGeom prst="rect">
            <a:avLst/>
          </a:prstGeom>
          <a:noFill/>
        </p:spPr>
        <p:txBody>
          <a:bodyPr wrap="square">
            <a:spAutoFit/>
          </a:bodyPr>
          <a:lstStyle/>
          <a:p>
            <a:pPr>
              <a:defRPr sz="1100" b="0">
                <a:solidFill>
                  <a:srgbClr val="505B69"/>
                </a:solidFill>
              </a:defRPr>
            </a:pPr>
            <a:r>
              <a:t>Average rating is 4.16 out of 5. Returned orders average lower ratings than delivered orders.</a:t>
            </a:r>
          </a:p>
        </p:txBody>
      </p:sp>
      <p:sp>
        <p:nvSpPr>
          <p:cNvPr id="20" name="TextBox 19"/>
          <p:cNvSpPr txBox="1"/>
          <p:nvPr/>
        </p:nvSpPr>
        <p:spPr>
          <a:xfrm>
            <a:off x="6309360" y="1508760"/>
            <a:ext cx="4937760" cy="365760"/>
          </a:xfrm>
          <a:prstGeom prst="rect">
            <a:avLst/>
          </a:prstGeom>
          <a:noFill/>
        </p:spPr>
        <p:txBody>
          <a:bodyPr wrap="square">
            <a:spAutoFit/>
          </a:bodyPr>
          <a:lstStyle/>
          <a:p>
            <a:pPr>
              <a:defRPr sz="1700" b="1">
                <a:solidFill>
                  <a:srgbClr val="182B4C"/>
                </a:solidFill>
              </a:defRPr>
            </a:pPr>
            <a:r>
              <a:t>Recommendations</a:t>
            </a:r>
          </a:p>
        </p:txBody>
      </p:sp>
      <p:sp>
        <p:nvSpPr>
          <p:cNvPr id="21" name="TextBox 20"/>
          <p:cNvSpPr txBox="1"/>
          <p:nvPr/>
        </p:nvSpPr>
        <p:spPr>
          <a:xfrm>
            <a:off x="6309360" y="2011680"/>
            <a:ext cx="4937760" cy="3200400"/>
          </a:xfrm>
          <a:prstGeom prst="rect">
            <a:avLst/>
          </a:prstGeom>
          <a:noFill/>
        </p:spPr>
        <p:txBody>
          <a:bodyPr wrap="square">
            <a:spAutoFit/>
          </a:bodyPr>
          <a:lstStyle/>
          <a:p>
            <a:pPr>
              <a:defRPr sz="1400" b="0">
                <a:solidFill>
                  <a:srgbClr val="505B69"/>
                </a:solidFill>
              </a:defRPr>
            </a:pPr>
            <a:r>
              <a:t>• Keep popular products available and test focused promotions.</a:t>
            </a:r>
            <a:br/>
            <a:br/>
            <a:r>
              <a:t>• Explore marketing in Lucknow and New Delhi, but collect more data before making large decisions.</a:t>
            </a:r>
            <a:br/>
            <a:br/>
            <a:r>
              <a:t>• Review returned and cancelled orders to understand possible causes.</a:t>
            </a:r>
            <a:br/>
            <a:br/>
            <a:r>
              <a:t>• Keep payment options simple, including UPI and cards.</a:t>
            </a:r>
            <a:br/>
            <a:br/>
            <a:r>
              <a:t>• Track ratings alongside the number of orders for each city.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square">
            <a:spAutoFit/>
          </a:bodyPr>
          <a:lstStyle/>
          <a:p>
            <a:pPr>
              <a:defRPr sz="2600" b="1">
                <a:solidFill>
                  <a:srgbClr val="182B4C"/>
                </a:solidFill>
              </a:defRPr>
            </a:pPr>
            <a:r>
              <a:t>14. Important Notes Before You Present</a:t>
            </a:r>
          </a:p>
        </p:txBody>
      </p:sp>
      <p:sp>
        <p:nvSpPr>
          <p:cNvPr id="4" name="TextBox 3"/>
          <p:cNvSpPr txBox="1"/>
          <p:nvPr/>
        </p:nvSpPr>
        <p:spPr>
          <a:xfrm>
            <a:off x="530352" y="786384"/>
            <a:ext cx="11064240" cy="347472"/>
          </a:xfrm>
          <a:prstGeom prst="rect">
            <a:avLst/>
          </a:prstGeom>
          <a:noFill/>
        </p:spPr>
        <p:txBody>
          <a:bodyPr wrap="square">
            <a:spAutoFit/>
          </a:bodyPr>
          <a:lstStyle/>
          <a:p>
            <a:pPr>
              <a:defRPr sz="1100" b="0">
                <a:solidFill>
                  <a:srgbClr val="505B69"/>
                </a:solidFill>
              </a:defRPr>
            </a:pPr>
            <a:r>
              <a:t>A few details help keep the interpretation accurate.</a:t>
            </a:r>
          </a:p>
        </p:txBody>
      </p:sp>
      <p:sp>
        <p:nvSpPr>
          <p:cNvPr id="5" name="Rectangle 4"/>
          <p:cNvSpPr/>
          <p:nvPr/>
        </p:nvSpPr>
        <p:spPr>
          <a:xfrm>
            <a:off x="530352" y="1161288"/>
            <a:ext cx="11109960" cy="32004"/>
          </a:xfrm>
          <a:prstGeom prst="rect">
            <a:avLst/>
          </a:prstGeom>
          <a:solidFill>
            <a:srgbClr val="3F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182880"/>
          </a:xfrm>
          <a:prstGeom prst="rect">
            <a:avLst/>
          </a:prstGeom>
          <a:noFill/>
        </p:spPr>
        <p:txBody>
          <a:bodyPr wrap="square">
            <a:spAutoFit/>
          </a:bodyPr>
          <a:lstStyle/>
          <a:p>
            <a:pPr>
              <a:defRPr sz="900" b="0">
                <a:solidFill>
                  <a:srgbClr val="505B69"/>
                </a:solidFill>
              </a:defRPr>
            </a:pPr>
            <a:r>
              <a:t>Myntra Sales Dataset • Dashboard explanation</a:t>
            </a:r>
          </a:p>
        </p:txBody>
      </p:sp>
      <p:sp>
        <p:nvSpPr>
          <p:cNvPr id="7" name="TextBox 6"/>
          <p:cNvSpPr txBox="1"/>
          <p:nvPr/>
        </p:nvSpPr>
        <p:spPr>
          <a:xfrm>
            <a:off x="11064240" y="6492240"/>
            <a:ext cx="548640" cy="228600"/>
          </a:xfrm>
          <a:prstGeom prst="rect">
            <a:avLst/>
          </a:prstGeom>
          <a:noFill/>
        </p:spPr>
        <p:txBody>
          <a:bodyPr wrap="square">
            <a:spAutoFit/>
          </a:bodyPr>
          <a:lstStyle/>
          <a:p>
            <a:pPr algn="r">
              <a:defRPr sz="900" b="0">
                <a:solidFill>
                  <a:srgbClr val="505B69"/>
                </a:solidFill>
              </a:defRPr>
            </a:pPr>
            <a:r>
              <a:t>15</a:t>
            </a:r>
          </a:p>
        </p:txBody>
      </p:sp>
      <p:sp>
        <p:nvSpPr>
          <p:cNvPr id="8" name="TextBox 7"/>
          <p:cNvSpPr txBox="1"/>
          <p:nvPr/>
        </p:nvSpPr>
        <p:spPr>
          <a:xfrm>
            <a:off x="868680" y="1554480"/>
            <a:ext cx="320040" cy="411480"/>
          </a:xfrm>
          <a:prstGeom prst="rect">
            <a:avLst/>
          </a:prstGeom>
          <a:noFill/>
        </p:spPr>
        <p:txBody>
          <a:bodyPr wrap="square">
            <a:spAutoFit/>
          </a:bodyPr>
          <a:lstStyle/>
          <a:p>
            <a:pPr>
              <a:defRPr sz="2000" b="1">
                <a:solidFill>
                  <a:srgbClr val="3F8BCB"/>
                </a:solidFill>
              </a:defRPr>
            </a:pPr>
            <a:r>
              <a:t>•</a:t>
            </a:r>
          </a:p>
        </p:txBody>
      </p:sp>
      <p:sp>
        <p:nvSpPr>
          <p:cNvPr id="9" name="TextBox 8"/>
          <p:cNvSpPr txBox="1"/>
          <p:nvPr/>
        </p:nvSpPr>
        <p:spPr>
          <a:xfrm>
            <a:off x="1234440" y="1554480"/>
            <a:ext cx="10058400" cy="566928"/>
          </a:xfrm>
          <a:prstGeom prst="rect">
            <a:avLst/>
          </a:prstGeom>
          <a:noFill/>
        </p:spPr>
        <p:txBody>
          <a:bodyPr wrap="square">
            <a:spAutoFit/>
          </a:bodyPr>
          <a:lstStyle/>
          <a:p>
            <a:pPr>
              <a:defRPr sz="1500" b="0">
                <a:solidFill>
                  <a:srgbClr val="505B69"/>
                </a:solidFill>
              </a:defRPr>
            </a:pPr>
            <a:r>
              <a:t>The dataset contains only 30 orders, so treat patterns as early indications—not proof of long-term customer behaviour.</a:t>
            </a:r>
          </a:p>
        </p:txBody>
      </p:sp>
      <p:sp>
        <p:nvSpPr>
          <p:cNvPr id="10" name="TextBox 9"/>
          <p:cNvSpPr txBox="1"/>
          <p:nvPr/>
        </p:nvSpPr>
        <p:spPr>
          <a:xfrm>
            <a:off x="868680" y="2423160"/>
            <a:ext cx="320040" cy="411480"/>
          </a:xfrm>
          <a:prstGeom prst="rect">
            <a:avLst/>
          </a:prstGeom>
          <a:noFill/>
        </p:spPr>
        <p:txBody>
          <a:bodyPr wrap="square">
            <a:spAutoFit/>
          </a:bodyPr>
          <a:lstStyle/>
          <a:p>
            <a:pPr>
              <a:defRPr sz="2000" b="1">
                <a:solidFill>
                  <a:srgbClr val="3F8BCB"/>
                </a:solidFill>
              </a:defRPr>
            </a:pPr>
            <a:r>
              <a:t>•</a:t>
            </a:r>
          </a:p>
        </p:txBody>
      </p:sp>
      <p:sp>
        <p:nvSpPr>
          <p:cNvPr id="11" name="TextBox 10"/>
          <p:cNvSpPr txBox="1"/>
          <p:nvPr/>
        </p:nvSpPr>
        <p:spPr>
          <a:xfrm>
            <a:off x="1234440" y="2423160"/>
            <a:ext cx="10058400" cy="566928"/>
          </a:xfrm>
          <a:prstGeom prst="rect">
            <a:avLst/>
          </a:prstGeom>
          <a:noFill/>
        </p:spPr>
        <p:txBody>
          <a:bodyPr wrap="square">
            <a:spAutoFit/>
          </a:bodyPr>
          <a:lstStyle/>
          <a:p>
            <a:pPr>
              <a:defRPr sz="1500" b="0">
                <a:solidFill>
                  <a:srgbClr val="505B69"/>
                </a:solidFill>
              </a:defRPr>
            </a:pPr>
            <a:r>
              <a:t>Total sales amount is ₹62,057. Total unit-price sum is ₹50,870; these are different measures because some orders contain multiple units.</a:t>
            </a:r>
          </a:p>
        </p:txBody>
      </p:sp>
      <p:sp>
        <p:nvSpPr>
          <p:cNvPr id="12" name="TextBox 11"/>
          <p:cNvSpPr txBox="1"/>
          <p:nvPr/>
        </p:nvSpPr>
        <p:spPr>
          <a:xfrm>
            <a:off x="868680" y="3291839"/>
            <a:ext cx="320040" cy="411480"/>
          </a:xfrm>
          <a:prstGeom prst="rect">
            <a:avLst/>
          </a:prstGeom>
          <a:noFill/>
        </p:spPr>
        <p:txBody>
          <a:bodyPr wrap="square">
            <a:spAutoFit/>
          </a:bodyPr>
          <a:lstStyle/>
          <a:p>
            <a:pPr>
              <a:defRPr sz="2000" b="1">
                <a:solidFill>
                  <a:srgbClr val="3F8BCB"/>
                </a:solidFill>
              </a:defRPr>
            </a:pPr>
            <a:r>
              <a:t>•</a:t>
            </a:r>
          </a:p>
        </p:txBody>
      </p:sp>
      <p:sp>
        <p:nvSpPr>
          <p:cNvPr id="13" name="TextBox 12"/>
          <p:cNvSpPr txBox="1"/>
          <p:nvPr/>
        </p:nvSpPr>
        <p:spPr>
          <a:xfrm>
            <a:off x="1234440" y="3291839"/>
            <a:ext cx="10058400" cy="566928"/>
          </a:xfrm>
          <a:prstGeom prst="rect">
            <a:avLst/>
          </a:prstGeom>
          <a:noFill/>
        </p:spPr>
        <p:txBody>
          <a:bodyPr wrap="square">
            <a:spAutoFit/>
          </a:bodyPr>
          <a:lstStyle/>
          <a:p>
            <a:pPr>
              <a:defRPr sz="1500" b="0">
                <a:solidFill>
                  <a:srgbClr val="505B69"/>
                </a:solidFill>
              </a:defRPr>
            </a:pPr>
            <a:r>
              <a:t>The average customer rating is 4.16/5. The sum of ratings is 124.90, which is less useful for judging satisfaction.</a:t>
            </a:r>
          </a:p>
        </p:txBody>
      </p:sp>
      <p:sp>
        <p:nvSpPr>
          <p:cNvPr id="14" name="TextBox 13"/>
          <p:cNvSpPr txBox="1"/>
          <p:nvPr/>
        </p:nvSpPr>
        <p:spPr>
          <a:xfrm>
            <a:off x="868680" y="4160520"/>
            <a:ext cx="320040" cy="411480"/>
          </a:xfrm>
          <a:prstGeom prst="rect">
            <a:avLst/>
          </a:prstGeom>
          <a:noFill/>
        </p:spPr>
        <p:txBody>
          <a:bodyPr wrap="square">
            <a:spAutoFit/>
          </a:bodyPr>
          <a:lstStyle/>
          <a:p>
            <a:pPr>
              <a:defRPr sz="2000" b="1">
                <a:solidFill>
                  <a:srgbClr val="3F8BCB"/>
                </a:solidFill>
              </a:defRPr>
            </a:pPr>
            <a:r>
              <a:t>•</a:t>
            </a:r>
          </a:p>
        </p:txBody>
      </p:sp>
      <p:sp>
        <p:nvSpPr>
          <p:cNvPr id="15" name="TextBox 14"/>
          <p:cNvSpPr txBox="1"/>
          <p:nvPr/>
        </p:nvSpPr>
        <p:spPr>
          <a:xfrm>
            <a:off x="1234440" y="4160520"/>
            <a:ext cx="10058400" cy="566928"/>
          </a:xfrm>
          <a:prstGeom prst="rect">
            <a:avLst/>
          </a:prstGeom>
          <a:noFill/>
        </p:spPr>
        <p:txBody>
          <a:bodyPr wrap="square">
            <a:spAutoFit/>
          </a:bodyPr>
          <a:lstStyle/>
          <a:p>
            <a:pPr>
              <a:defRPr sz="1500" b="0">
                <a:solidFill>
                  <a:srgbClr val="505B69"/>
                </a:solidFill>
              </a:defRPr>
            </a:pPr>
            <a:r>
              <a:t>The screenshot appears to show some charts using sums where averages or counts may be clearer. For example, average rating by city is easier to explain than sum of ratings.</a:t>
            </a:r>
          </a:p>
        </p:txBody>
      </p:sp>
      <p:sp>
        <p:nvSpPr>
          <p:cNvPr id="16" name="TextBox 15"/>
          <p:cNvSpPr txBox="1"/>
          <p:nvPr/>
        </p:nvSpPr>
        <p:spPr>
          <a:xfrm>
            <a:off x="868680" y="5029200"/>
            <a:ext cx="320040" cy="411480"/>
          </a:xfrm>
          <a:prstGeom prst="rect">
            <a:avLst/>
          </a:prstGeom>
          <a:noFill/>
        </p:spPr>
        <p:txBody>
          <a:bodyPr wrap="square">
            <a:spAutoFit/>
          </a:bodyPr>
          <a:lstStyle/>
          <a:p>
            <a:pPr>
              <a:defRPr sz="2000" b="1">
                <a:solidFill>
                  <a:srgbClr val="3F8BCB"/>
                </a:solidFill>
              </a:defRPr>
            </a:pPr>
            <a:r>
              <a:t>•</a:t>
            </a:r>
          </a:p>
        </p:txBody>
      </p:sp>
      <p:sp>
        <p:nvSpPr>
          <p:cNvPr id="17" name="TextBox 16"/>
          <p:cNvSpPr txBox="1"/>
          <p:nvPr/>
        </p:nvSpPr>
        <p:spPr>
          <a:xfrm>
            <a:off x="1234440" y="5029200"/>
            <a:ext cx="10058400" cy="566928"/>
          </a:xfrm>
          <a:prstGeom prst="rect">
            <a:avLst/>
          </a:prstGeom>
          <a:noFill/>
        </p:spPr>
        <p:txBody>
          <a:bodyPr wrap="square">
            <a:spAutoFit/>
          </a:bodyPr>
          <a:lstStyle/>
          <a:p>
            <a:pPr>
              <a:defRPr sz="1500" b="0">
                <a:solidFill>
                  <a:srgbClr val="505B69"/>
                </a:solidFill>
              </a:defRPr>
            </a:pPr>
            <a:r>
              <a:t>For a report-quality dashboard, label every axis, use consistent INR formatting, and ensure the chart legend matches the metric being shown.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